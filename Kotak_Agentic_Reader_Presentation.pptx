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Transaction_Tagger_Presentation.pptx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4206240" cy="54864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420624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91440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0" b="1">
                <a:solidFill>
                  <a:srgbClr val="224A85"/>
                </a:solidFill>
                <a:latin typeface="Calibri"/>
              </a:rPr>
              <a:t>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0116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88A8D8"/>
                </a:solidFill>
                <a:latin typeface="Calibri"/>
              </a:rPr>
              <a:t>CONFIDENTIAL  ·  AGENTIC AI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713232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1B3A6B"/>
                </a:solidFill>
                <a:latin typeface="Calibri"/>
              </a:rPr>
              <a:t>Kotak Agentic</a:t>
            </a:r>
          </a:p>
          <a:p>
            <a:pPr algn="l"/>
            <a:r>
              <a:rPr sz="4000" b="1">
                <a:solidFill>
                  <a:srgbClr val="1B3A6B"/>
                </a:solidFill>
                <a:latin typeface="Calibri"/>
              </a:rPr>
              <a:t>Reader</a:t>
            </a:r>
          </a:p>
          <a:p>
            <a:pPr algn="l"/>
            <a:r>
              <a:rPr sz="4000" b="1">
                <a:solidFill>
                  <a:srgbClr val="1B3A6B"/>
                </a:solidFill>
                <a:latin typeface="Calibri"/>
              </a:rPr>
              <a:t>for Hindsighting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703320"/>
            <a:ext cx="2743200" cy="381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6578"/>
                </a:solidFill>
                <a:latin typeface="Calibri"/>
              </a:rPr>
              <a:t>Streamlining root-cause analysis for offers, first payment defaults,</a:t>
            </a:r>
          </a:p>
          <a:p>
            <a:pPr algn="l"/>
            <a:r>
              <a:rPr sz="1300" b="0">
                <a:solidFill>
                  <a:srgbClr val="556578"/>
                </a:solidFill>
                <a:latin typeface="Calibri"/>
              </a:rPr>
              <a:t>and 30+ DPD cases — from manual case-by-case review to an agent-assisted workflow.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10–20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Cases / day today (manual)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82512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Failure modes diagnosed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Local LLM · zero PII egress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03536" y="4937760"/>
            <a:ext cx="1645920" cy="749808"/>
          </a:xfrm>
          <a:prstGeom prst="rect">
            <a:avLst/>
          </a:prstGeom>
          <a:solidFill>
            <a:srgbClr val="E8EDF7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03536" y="4937760"/>
            <a:ext cx="45720" cy="74980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4976" y="4992624"/>
            <a:ext cx="155448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B3A6B"/>
                </a:solidFill>
                <a:latin typeface="Calibri"/>
              </a:rPr>
              <a:t>HTML+XLSX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4976" y="5380000"/>
            <a:ext cx="155448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Reports shipped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9A8BB"/>
                </a:solidFill>
                <a:latin typeface="Calibri"/>
              </a:rPr>
              <a:t>Built by the AI Team  ·  LangChain · Ollama · Deterministic-first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The Hindsighting Bottleneck — and What We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Why this project exists, what can go wrong with an offer, and where we are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Cases/day (manual): 10–20  ·  Failure modes covered: execution · policy · income estimation  ·  Shipped: HTML + Excel reports + agentic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6859323" cy="23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6859323" cy="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10000"/>
            <a:ext cx="6499323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Where we are today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890000"/>
            <a:ext cx="6499323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Analysts manually pull data, aggregate, and review 10–20 cases / day.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Each case asks the same question: what went wrong with this offer / FPD / 30+ DPD?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Loop is slow, inconsistent across analysts, and hard to audit.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00000"/>
            <a:ext cx="6859323" cy="23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700000"/>
            <a:ext cx="6859323" cy="6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40" y="3830000"/>
            <a:ext cx="6499323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What we 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40" y="4310000"/>
            <a:ext cx="6499323" cy="1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Customer + Bureau + Combined HTML / PDF / Excel reports.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Transaction tagging in-built for Kotak banking narrations (43-category model wired in as a tool).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Deterministic engine: feature vectors, key findings, scorecard, checklist.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Agentic base: intent parser, planner, tool registry, audit log — ready to evolve into a ReAct loop.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9363" y="1280000"/>
            <a:ext cx="4549549" cy="472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9363" y="1280000"/>
            <a:ext cx="4549549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9363" y="1410000"/>
            <a:ext cx="4189549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Three failure modes we 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9363" y="1890000"/>
            <a:ext cx="4189549" cy="40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Execution gaps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    a policy or sub-component did not fire correctly.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Policy issues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    too harsh, or safe to relax based on observed cohort behaviour.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Income estimation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    under- or over-stated; alternate income signals were missed.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Five-stage agentic pipeline, deterministic tool layer, and multi-format outputs — all running on local Ollama.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Mistral (intent · JSON)  ·  llama3.2 (narration)  ·  pandas + fpdf2 + Jinja2  ·  20+ tools registered today</a:t>
            </a:r>
          </a:p>
        </p:txBody>
      </p:sp>
      <p:pic>
        <p:nvPicPr>
          <p:cNvPr id="11" name="Picture 10" descr="arch_gen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11548000" cy="5734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Determinism &gt;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Every number on every report is computed in pure Python. The LLM never sees raw data and never decides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Why: regulatory auditability  ·  reproducibility  ·  no hallucinated numbers  ·  single source of truth in config/thresholds.py</a:t>
            </a:r>
          </a:p>
        </p:txBody>
      </p:sp>
      <p:pic>
        <p:nvPicPr>
          <p:cNvPr id="11" name="Picture 10" descr="arch_determi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9100000" cy="41914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560000" y="1230000"/>
            <a:ext cx="2308912" cy="518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60000" y="1230000"/>
            <a:ext cx="2308912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00" y="1360000"/>
            <a:ext cx="198891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Calibri"/>
              </a:rPr>
              <a:t>MOTIVATION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173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Auditable line-by-line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00" y="215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Same input → same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257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LLM never sees raw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0000" y="299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Narration fails soft — numbers always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3410000"/>
            <a:ext cx="1988912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Findings = constant + comparison 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Bureau Feature Extraction &amp; Key-Findings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100+ raw loan types normalized to 13 canonical classes; per-type feature vectors feed a 40+ rule, zero-LLM findings engine.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Severity ladder: high_risk · moderate_risk · concern · positive · neutral  ·  Same constants annotate the LLM narration prompt</a:t>
            </a:r>
          </a:p>
        </p:txBody>
      </p:sp>
      <p:pic>
        <p:nvPicPr>
          <p:cNvPr id="11" name="Picture 10" descr="arch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11548000" cy="53189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Upstream Dependency — Transaction Tagger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Banking narrations are first classified into 43 categories by a separate retrieval-augmented model. That work is documented in its own deck.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Click the panel to open the dedicated Transaction Tagger presentation  ·  Adapted from Amazon Science research</a:t>
            </a:r>
          </a:p>
        </p:txBody>
      </p:sp>
      <p:sp>
        <p:nvSpPr>
          <p:cNvPr id="11" name="Rectangle 10">
            <a:hlinkClick r:id="rId2"/>
          </p:cNvPr>
          <p:cNvSpPr/>
          <p:nvPr/>
        </p:nvSpPr>
        <p:spPr>
          <a:xfrm>
            <a:off x="1500000" y="1500000"/>
            <a:ext cx="9200000" cy="44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0000" y="1500000"/>
            <a:ext cx="92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0000" y="1500000"/>
            <a:ext cx="60000" cy="44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00000" y="1900000"/>
            <a:ext cx="840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TRANSACTION TAGGER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0000" y="2400000"/>
            <a:ext cx="84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Intelligence-Led Transaction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000" y="3500000"/>
            <a:ext cx="8400000" cy="1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8A8D8"/>
                </a:solidFill>
                <a:latin typeface="Calibri"/>
              </a:rPr>
              <a:t>Retrieval-augmented categorization of banking narrations.</a:t>
            </a:r>
          </a:p>
          <a:p>
            <a:pPr algn="l"/>
            <a:r>
              <a:rPr sz="1400" b="0">
                <a:solidFill>
                  <a:srgbClr val="88A8D8"/>
                </a:solidFill>
                <a:latin typeface="Calibri"/>
              </a:rPr>
              <a:t>Powers the category_of_txn column that every downstream feature, finding,</a:t>
            </a:r>
          </a:p>
          <a:p>
            <a:pPr algn="l"/>
            <a:r>
              <a:rPr sz="1400" b="0">
                <a:solidFill>
                  <a:srgbClr val="88A8D8"/>
                </a:solidFill>
                <a:latin typeface="Calibri"/>
              </a:rPr>
              <a:t>and report section depends 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8860B"/>
                </a:solidFill>
                <a:latin typeface="Calibri"/>
              </a:rPr>
              <a:t>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A8D8"/>
                </a:solidFill>
                <a:latin typeface="Calibri"/>
              </a:rPr>
              <a:t>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8860B"/>
                </a:solidFill>
                <a:latin typeface="Calibri"/>
              </a:rPr>
              <a:t>35K+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A8D8"/>
                </a:solidFill>
                <a:latin typeface="Calibri"/>
              </a:rPr>
              <a:t>Labeled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8860B"/>
                </a:solidFill>
                <a:latin typeface="Calibri"/>
              </a:rPr>
              <a:t>10M+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A8D8"/>
                </a:solidFill>
                <a:latin typeface="Calibri"/>
              </a:rPr>
              <a:t>Txns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0000" y="4700000"/>
            <a:ext cx="20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8860B"/>
                </a:solidFill>
                <a:latin typeface="Calibri"/>
              </a:rPr>
              <a:t>&lt;15ms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0000" y="5120000"/>
            <a:ext cx="20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8A8D8"/>
                </a:solidFill>
                <a:latin typeface="Calibri"/>
              </a:rPr>
              <a:t>Per transaction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000" y="6050000"/>
            <a:ext cx="9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B3A6B"/>
                </a:solidFill>
                <a:latin typeface="Calibri"/>
              </a:rPr>
              <a:t>▶  Click the panel above to open the full Transaction Tagger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Why This Pipeline Needs an Agent — Report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3 builders × 5 themes × 3 output formats × per-section narration chains × caching. The combinatorics is what makes agentic orchestration the right paradigm — not a luxury.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Today: deterministic routing through INTENT_TOOL_MAP  ·  Tomorrow: full ReAct loop (see next slide)</a:t>
            </a:r>
          </a:p>
        </p:txBody>
      </p:sp>
      <p:pic>
        <p:nvPicPr>
          <p:cNvPr id="11" name="Picture 10" descr="arch_rend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9100000" cy="41914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00040" y="1230000"/>
            <a:ext cx="2268872" cy="518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0040" y="1230000"/>
            <a:ext cx="2268872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0040" y="1360000"/>
            <a:ext cx="1948872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Calibri"/>
              </a:rPr>
              <a:t>WHY AGENTIC?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0040" y="1730000"/>
            <a:ext cx="194887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Pick the right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0040" y="2110000"/>
            <a:ext cx="194887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Skip empty 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0040" y="2490000"/>
            <a:ext cx="194887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Reuse cache or rebuild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0040" y="2870000"/>
            <a:ext cx="194887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Retry on LLM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0040" y="3250000"/>
            <a:ext cx="1948872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•  Choose the output format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0040" y="4710000"/>
            <a:ext cx="1988872" cy="152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0040" y="4790000"/>
            <a:ext cx="1948872" cy="1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More agents.</a:t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More data sources.</a:t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More decisions per case.</a:t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/>
            </a:r>
          </a:p>
          <a:p>
            <a:pPr algn="l"/>
            <a:r>
              <a:rPr sz="1100" b="1">
                <a:solidFill>
                  <a:srgbClr val="1B3A6B"/>
                </a:solidFill>
                <a:latin typeface="Calibri"/>
              </a:rPr>
              <a:t>The agent scales linearly — manual review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08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Agentic Foundation — Toward a ReAct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Today's pipeline is the deterministic skeleton of a ReAct agent. The remaining step is to replace the static INTENT_TOOL_MAP with dynamic LLM-driven tool selection and a reflection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Already built: parser · planner · tool registry · audit log  ·  Gap: dynamic tool selection + observation-driven re-planning</a:t>
            </a:r>
          </a:p>
        </p:txBody>
      </p:sp>
      <p:pic>
        <p:nvPicPr>
          <p:cNvPr id="11" name="Picture 10" descr="arch_age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0000"/>
            <a:ext cx="11548000" cy="53189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09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Sample Output — Combined Report (HTML)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Real customer view: scorecard, bureau key findings, checklist, narrative — generated end-to-end in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Sample CRN: 698167220  ·  Yellow highlights to be added per analyst walkthrough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1300000"/>
            <a:ext cx="10800000" cy="4900000"/>
          </a:xfrm>
          <a:prstGeom prst="rect">
            <a:avLst/>
          </a:prstGeom>
          <a:solidFill>
            <a:srgbClr val="FFFFFF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1300000"/>
            <a:ext cx="108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3400000"/>
            <a:ext cx="108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99A8BB"/>
                </a:solidFill>
                <a:latin typeface="Calibri"/>
              </a:rPr>
              <a:t>[ Insert annotated Combined Report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4000000"/>
            <a:ext cx="108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56578"/>
                </a:solidFill>
                <a:latin typeface="Calibri"/>
              </a:rPr>
              <a:t>Yellow highlights mark the analyst's review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400000"/>
            <a:ext cx="10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99A8BB"/>
                </a:solidFill>
                <a:latin typeface="Calibri"/>
              </a:rPr>
              <a:t>reports/combined_698167220_report.html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10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Sample Output — Excel Workbook · Checklist · Scorecard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Structured outputs for downstream policy review, batch QC, and audit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Excel sheet per section  ·  Checklist booleans drive policy diff  ·  Scorecard is pure deterministic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00000"/>
            <a:ext cx="5600000" cy="4900000"/>
          </a:xfrm>
          <a:prstGeom prst="rect">
            <a:avLst/>
          </a:prstGeom>
          <a:solidFill>
            <a:srgbClr val="FFFFFF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300000"/>
            <a:ext cx="56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400000"/>
            <a:ext cx="5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99A8BB"/>
                </a:solidFill>
                <a:latin typeface="Calibri"/>
              </a:rPr>
              <a:t>Excel Workbook — multi-sheet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50000"/>
            <a:ext cx="5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6578"/>
                </a:solidFill>
                <a:latin typeface="Calibri"/>
              </a:rPr>
              <a:t>[ screenshot to be inserted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000" y="1300000"/>
            <a:ext cx="5600000" cy="4900000"/>
          </a:xfrm>
          <a:prstGeom prst="rect">
            <a:avLst/>
          </a:prstGeom>
          <a:solidFill>
            <a:srgbClr val="FFFFFF"/>
          </a:solidFill>
          <a:ln>
            <a:solidFill>
              <a:srgbClr val="CC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0000" y="1300000"/>
            <a:ext cx="56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000" y="3400000"/>
            <a:ext cx="56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99A8BB"/>
                </a:solidFill>
                <a:latin typeface="Calibri"/>
              </a:rPr>
              <a:t>Checklist + Scorecard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0000" y="3950000"/>
            <a:ext cx="56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56578"/>
                </a:solidFill>
                <a:latin typeface="Calibri"/>
              </a:rPr>
              <a:t>[ screenshot to be inserted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11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Impact — Directional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We do not yet have hard TAT numbers; the qualitative shift is the headline.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Pilot phase: shipping HTML + Excel to analysts for shadow-mode comparison against manual 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60000" cy="11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2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75BAD"/>
                </a:solidFill>
                <a:latin typeface="Calibri"/>
              </a:rPr>
              <a:t>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68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Case TAT compression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40" y="204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Manual data pull + aggregation collapses to a single agent invocation. Analyst time shifts from gathering to judging.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0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500000"/>
            <a:ext cx="60000" cy="11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40" y="264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B8860B"/>
                </a:solidFill>
                <a:latin typeface="Calibri"/>
              </a:rPr>
              <a:t>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40" y="290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Same finding every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40" y="326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Deterministic thresholds eliminate analyst-to-analyst variance on the same input cohort.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2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20000"/>
            <a:ext cx="60000" cy="11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40" y="386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B3A6B"/>
                </a:solidFill>
                <a:latin typeface="Calibri"/>
              </a:rPr>
              <a:t>AUDITABILITY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40" y="412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Every number traceable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40" y="448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Each key finding maps to a named constant in config/thresholds.py and a single comparison operator.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4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40000"/>
            <a:ext cx="60000" cy="11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0040" y="5080000"/>
            <a:ext cx="10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275BAD"/>
                </a:solidFill>
                <a:latin typeface="Calibri"/>
              </a:rPr>
              <a:t>SCALABILITY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040" y="534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From 10–20 cases / day → batch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40" y="5700000"/>
            <a:ext cx="1100000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Same pipeline runs interactively or via batch_reports.py over arbitrary CRN lists.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From shipped HTML/Excel reports to a fully agentic offer-validation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Each phase builds on the prior one — no rewrite, only extension of the existing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60000" cy="11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040" y="1590000"/>
            <a:ext cx="290000" cy="29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40" y="157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040" y="143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Phase 1 —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0040" y="180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Combined HTML + Excel reports. Deterministic engine. Static intent → tool routing.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50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500000"/>
            <a:ext cx="60000" cy="110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040" y="2810000"/>
            <a:ext cx="290000" cy="290000"/>
          </a:xfrm>
          <a:prstGeom prst="rect">
            <a:avLst/>
          </a:prstGeom>
          <a:solidFill>
            <a:srgbClr val="275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040" y="279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040" y="265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Phase 2 — ReAct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040" y="302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Replace INTENT_TOOL_MAP with LLM-driven tool selection + observation-based re-planning.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2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720000"/>
            <a:ext cx="60000" cy="110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0040" y="4030000"/>
            <a:ext cx="290000" cy="29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040" y="401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040" y="387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Phase 3 — Offer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0040" y="424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Forensic playbooks for FPD / 30+ DPD: policy diff, income re-estimation, execution-gap detector.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940000"/>
            <a:ext cx="11540000" cy="11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940000"/>
            <a:ext cx="60000" cy="110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0040" y="5250000"/>
            <a:ext cx="290000" cy="29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040" y="5230000"/>
            <a:ext cx="290000" cy="33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040" y="5090000"/>
            <a:ext cx="100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Phase 4 — Active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040" y="546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Analyst overrides feed back into threshold tuning and category-mapping refinement.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65992" y="109728"/>
            <a:ext cx="685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6578"/>
                </a:solidFill>
                <a:latin typeface="Calibri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B3A6B"/>
                </a:solidFill>
                <a:latin typeface="Calibri"/>
              </a:rPr>
              <a:t>Risks, Guardrails &amp;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612880" cy="1524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6578"/>
                </a:solidFill>
                <a:latin typeface="Calibri"/>
              </a:rPr>
              <a:t>What can break, what protects us, and what we need next.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12700"/>
          </a:xfrm>
          <a:prstGeom prst="rect">
            <a:avLst/>
          </a:prstGeom>
          <a:solidFill>
            <a:srgbClr val="CC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47104"/>
            <a:ext cx="1161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56578"/>
                </a:solidFill>
                <a:latin typeface="Calibri"/>
              </a:rPr>
              <a:t>Confidential  ·  Internal review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80000"/>
            <a:ext cx="5600000" cy="47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80000"/>
            <a:ext cx="5600000" cy="60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40" y="1430000"/>
            <a:ext cx="524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Guardrails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40" y="1950000"/>
            <a:ext cx="5240000" cy="3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Local Ollama inference — zero PII egress.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Fail-soft everywhere: tool/LLM failure never crashes the pipeline.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JSONL audit log per query (logs/audit_*.jsonl).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Deterministic numbers — LLM cannot mutate a finding.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Single-source thresholds, prompts, and categories under config/.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000" y="1280000"/>
            <a:ext cx="5600000" cy="4700000"/>
          </a:xfrm>
          <a:prstGeom prst="rect">
            <a:avLst/>
          </a:prstGeom>
          <a:solidFill>
            <a:srgbClr val="E8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0000" y="1280000"/>
            <a:ext cx="5600000" cy="600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0000" y="1430000"/>
            <a:ext cx="524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Risks &amp; the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0000" y="1950000"/>
            <a:ext cx="5240000" cy="3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Single-user process today — needs hardening for concurrent analysts.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Cache invalidation is manual — needs TTL for daily data refresh.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Pilot ask: 2 analysts × 4 weeks shadow-mode comparison.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Infra ask: dedicated Ollama host + analyst sandbox.</a:t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556578"/>
                </a:solidFill>
                <a:latin typeface="Calibri"/>
              </a:rPr>
              <a:t>•  Decision ask: green-light Phase 2 (ReAct) scope and timeline.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