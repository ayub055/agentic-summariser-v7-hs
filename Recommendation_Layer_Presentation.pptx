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01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The Recommendation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  <a:latin typeface="Calibri"/>
              </a:rPr>
              <a:t>Today's agents narrate the data — they do not decide on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9A8BB"/>
                </a:solidFill>
                <a:latin typeface="Calibri"/>
              </a:rPr>
              <a:t>10,000+ hindsighted cases sit unused  ·  Recommendation today is human-only  ·  No reasoning compounding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80160"/>
            <a:ext cx="5600000" cy="42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40" y="1330160"/>
            <a:ext cx="542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TODAY  —  What Our Agents Produce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00160"/>
            <a:ext cx="5600000" cy="440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700160"/>
            <a:ext cx="54864" cy="440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40" y="1800160"/>
            <a:ext cx="5240000" cy="4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3A6B"/>
                </a:solidFill>
                <a:latin typeface="Calibri"/>
              </a:rPr>
              <a:t>Bank Analyser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Deterministic salary, EMI, category, cash-flow blocks</a:t>
            </a:r>
          </a:p>
          <a:p>
            <a:pPr algn="l"/>
            <a:r>
              <a:rPr sz="6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200" b="1">
                <a:solidFill>
                  <a:srgbClr val="1B3A6B"/>
                </a:solidFill>
                <a:latin typeface="Calibri"/>
              </a:rPr>
              <a:t>Bureau Agent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DPD, utilization, secured/unsecured, 40+ key findings</a:t>
            </a:r>
          </a:p>
          <a:p>
            <a:pPr algn="l"/>
            <a:r>
              <a:rPr sz="6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200" b="1">
                <a:solidFill>
                  <a:srgbClr val="1B3A6B"/>
                </a:solidFill>
                <a:latin typeface="Calibri"/>
              </a:rPr>
              <a:t>Combined Report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LLM-narrated executive summary across both verticals</a:t>
            </a:r>
          </a:p>
          <a:p>
            <a:pPr algn="l"/>
            <a:r>
              <a:rPr sz="6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200" b="1">
                <a:solidFill>
                  <a:srgbClr val="275BAD"/>
                </a:solidFill>
                <a:latin typeface="Calibri"/>
              </a:rPr>
              <a:t>Missing layer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No system produces a Recommendation:</a:t>
            </a:r>
          </a:p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Approve  ·  Decline  ·  Refer    + reasoned justification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8040" y="1280160"/>
            <a:ext cx="5600000" cy="4200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8040" y="1330160"/>
            <a:ext cx="542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ASSET  —  Hindsighted Decisions Sitting Idle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8040" y="1700160"/>
            <a:ext cx="5600000" cy="440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8040" y="1700160"/>
            <a:ext cx="54864" cy="44000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88040" y="1820160"/>
            <a:ext cx="1680000" cy="7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88040" y="1820160"/>
            <a:ext cx="1680000" cy="4572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8040" y="1920160"/>
            <a:ext cx="1680000" cy="6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B3A6B"/>
                </a:solidFill>
                <a:latin typeface="Calibri"/>
              </a:rPr>
              <a:t>10K+</a:t>
            </a:r>
          </a:p>
          <a:p>
            <a:pPr algn="ctr"/>
            <a:r>
              <a:rPr sz="900" b="0">
                <a:solidFill>
                  <a:srgbClr val="556578"/>
                </a:solidFill>
                <a:latin typeface="Calibri"/>
              </a:rPr>
              <a:t>Hindsighted
customers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68040" y="1820160"/>
            <a:ext cx="1680000" cy="7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68040" y="1820160"/>
            <a:ext cx="1680000" cy="4572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8040" y="1920160"/>
            <a:ext cx="1680000" cy="6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B3A6B"/>
                </a:solidFill>
                <a:latin typeface="Calibri"/>
              </a:rPr>
              <a:t>3</a:t>
            </a:r>
          </a:p>
          <a:p>
            <a:pPr algn="ctr"/>
            <a:r>
              <a:rPr sz="900" b="0">
                <a:solidFill>
                  <a:srgbClr val="556578"/>
                </a:solidFill>
                <a:latin typeface="Calibri"/>
              </a:rPr>
              <a:t>Expert-written
fields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48040" y="1820160"/>
            <a:ext cx="1680000" cy="7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48040" y="1820160"/>
            <a:ext cx="1680000" cy="4572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48040" y="1920160"/>
            <a:ext cx="1680000" cy="6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B3A6B"/>
                </a:solidFill>
                <a:latin typeface="Calibri"/>
              </a:rPr>
              <a:t>100%</a:t>
            </a:r>
          </a:p>
          <a:p>
            <a:pPr algn="ctr"/>
            <a:r>
              <a:rPr sz="900" b="0">
                <a:solidFill>
                  <a:srgbClr val="556578"/>
                </a:solidFill>
                <a:latin typeface="Calibri"/>
              </a:rPr>
              <a:t>Human-validated
ground truth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8040" y="2760160"/>
            <a:ext cx="524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Each hindsighted record contains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88040" y="3100160"/>
            <a:ext cx="8" cy="2800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8040" y="3080160"/>
            <a:ext cx="512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Bank Summary  —  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Expert narrative on transaction patterns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88040" y="3420160"/>
            <a:ext cx="8" cy="2800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040" y="3400160"/>
            <a:ext cx="512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Bureau Summary  —  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Expert narrative on credit behaviour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88040" y="3740160"/>
            <a:ext cx="8" cy="2800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040" y="3720160"/>
            <a:ext cx="512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Recommendation  —  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Free-text issues  +  Approve / Decline / Refer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6180160"/>
            <a:ext cx="11548000" cy="46000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6180160"/>
            <a:ext cx="54864" cy="46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0040" y="6260160"/>
            <a:ext cx="11188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B3A6B"/>
                </a:solidFill>
                <a:latin typeface="Calibri"/>
              </a:rPr>
              <a:t>Why this matters now  —  </a:t>
            </a:r>
          </a:p>
          <a:p>
            <a:pPr algn="l"/>
            <a:r>
              <a:rPr sz="1200" b="0">
                <a:solidFill>
                  <a:srgbClr val="556578"/>
                </a:solidFill>
                <a:latin typeface="Calibri"/>
              </a:rPr>
              <a:t>every recommendation we don't generate is reasoning capital we don't compound. The 10K corpus is a one-time bootstrap for an LLM reasoning layer.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02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The Recommendation Reasoning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  <a:latin typeface="Calibri"/>
              </a:rPr>
              <a:t>One generic reasoning layer  —  Retrieval + Rationale + Compiled Prompt  —  callable by any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9A8BB"/>
                </a:solidFill>
                <a:latin typeface="Calibri"/>
              </a:rPr>
              <a:t>Generic layer  ·  Local Ollama  ·  No fine-tuning  ·  Consumable by Bank Analyser, HS Agent, Critique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852" y="1261872"/>
            <a:ext cx="1664208" cy="38404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852" y="1261872"/>
            <a:ext cx="1664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Customer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74060" y="1325872"/>
            <a:ext cx="11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75BAD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87860" y="1261872"/>
            <a:ext cx="1664208" cy="384048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87860" y="1261872"/>
            <a:ext cx="1664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Retrieve Analogues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7068" y="1325872"/>
            <a:ext cx="11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75BAD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68" y="1261872"/>
            <a:ext cx="1664208" cy="384048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68" y="1261872"/>
            <a:ext cx="1664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Rationale Injection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0076" y="1325872"/>
            <a:ext cx="11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75BAD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3876" y="1261872"/>
            <a:ext cx="1664208" cy="38404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53876" y="1261872"/>
            <a:ext cx="1664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Compiled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3084" y="1325872"/>
            <a:ext cx="11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75BAD"/>
                </a:solidFill>
                <a:latin typeface="Calibri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36884" y="1261872"/>
            <a:ext cx="1664208" cy="384048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36884" y="1261872"/>
            <a:ext cx="1664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LLM Reasoner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6092" y="1325872"/>
            <a:ext cx="11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75BAD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19892" y="1261872"/>
            <a:ext cx="1664208" cy="384048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9892" y="1261872"/>
            <a:ext cx="1664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1900000"/>
            <a:ext cx="3689624" cy="48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040" y="199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040" y="1990000"/>
            <a:ext cx="3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B3A6B"/>
                </a:solidFill>
                <a:latin typeface="Calibri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040" y="2000000"/>
            <a:ext cx="3129624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Dynamic Few-Shot RAG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380000"/>
            <a:ext cx="3689624" cy="292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2380000"/>
            <a:ext cx="54864" cy="292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40" y="2460000"/>
            <a:ext cx="3369624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8"/>
                </a:solidFill>
                <a:latin typeface="Calibri"/>
              </a:rPr>
              <a:t>Embed all 10K hindsighted records. At inference, retrieve top-k most similar cases and inject their Bank/Bureau summaries + Recommendations as in-context exemplars.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040" y="3640000"/>
            <a:ext cx="3369624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B3A6B"/>
                </a:solidFill>
                <a:latin typeface="Calibri"/>
              </a:rPr>
              <a:t>HOW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0040" y="3900000"/>
            <a:ext cx="3369624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8"/>
                </a:solidFill>
                <a:latin typeface="Calibri"/>
              </a:rPr>
              <a:t>•  Local sentence-transformer / BGE-small (Ollama)</a:t>
            </a:r>
          </a:p>
          <a:p>
            <a:pPr algn="l"/>
            <a:r>
              <a:rPr sz="900" b="0">
                <a:solidFill>
                  <a:srgbClr val="556578"/>
                </a:solidFill>
                <a:latin typeface="Calibri"/>
              </a:rPr>
              <a:t>•  FAISS / Chroma vector index on customer feature vector</a:t>
            </a:r>
          </a:p>
          <a:p>
            <a:pPr algn="l"/>
            <a:r>
              <a:rPr sz="900" b="0">
                <a:solidFill>
                  <a:srgbClr val="556578"/>
                </a:solidFill>
                <a:latin typeface="Calibri"/>
              </a:rPr>
              <a:t>•  Hybrid: dense semantic + structured filter (DPD, exposure)</a:t>
            </a:r>
          </a:p>
          <a:p>
            <a:pPr algn="l"/>
            <a:r>
              <a:rPr sz="900" b="0">
                <a:solidFill>
                  <a:srgbClr val="556578"/>
                </a:solidFill>
                <a:latin typeface="Calibri"/>
              </a:rPr>
              <a:t>•  Top-k = 3–5, re-ranked by feature distance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0040" y="5040000"/>
            <a:ext cx="3369624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B3A6B"/>
                </a:solidFill>
                <a:latin typeface="Calibri"/>
              </a:rPr>
              <a:t>WHY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0040" y="5300000"/>
            <a:ext cx="3369624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B3A6B"/>
                </a:solidFill>
                <a:latin typeface="Calibri"/>
              </a:rPr>
              <a:t>Every recommendation is grounded in real past decisions  —  auditable, explainable, zero training.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49664" y="1900000"/>
            <a:ext cx="3689624" cy="4800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99664" y="199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9664" y="1990000"/>
            <a:ext cx="3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75BAD"/>
                </a:solidFill>
                <a:latin typeface="Calibri"/>
              </a:rPr>
              <a:t>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49664" y="2000000"/>
            <a:ext cx="3129624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Compiled Prompt (DSPy / MIPRO)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49664" y="2380000"/>
            <a:ext cx="3689624" cy="292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49664" y="2380000"/>
            <a:ext cx="54864" cy="29200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29664" y="2460000"/>
            <a:ext cx="3369624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8"/>
                </a:solidFill>
                <a:latin typeface="Calibri"/>
              </a:rPr>
              <a:t>Treat the 10K corpus as a trainset. Use DSPy / MIPROv2 to automatically optimize prompt wording + few-shot demo selection against an LLM-judge metric.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29664" y="3640000"/>
            <a:ext cx="3369624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75BAD"/>
                </a:solidFill>
                <a:latin typeface="Calibri"/>
              </a:rPr>
              <a:t>HOW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29664" y="3900000"/>
            <a:ext cx="3369624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8"/>
                </a:solidFill>
                <a:latin typeface="Calibri"/>
              </a:rPr>
              <a:t>•  Trainset: 8K  ·  Dev: 1K  ·  Held-out: 1K</a:t>
            </a:r>
          </a:p>
          <a:p>
            <a:pPr algn="l"/>
            <a:r>
              <a:rPr sz="900" b="0">
                <a:solidFill>
                  <a:srgbClr val="556578"/>
                </a:solidFill>
                <a:latin typeface="Calibri"/>
              </a:rPr>
              <a:t>•  Metric: decision-class match + rationale similarity</a:t>
            </a:r>
          </a:p>
          <a:p>
            <a:pPr algn="l"/>
            <a:r>
              <a:rPr sz="900" b="0">
                <a:solidFill>
                  <a:srgbClr val="556578"/>
                </a:solidFill>
                <a:latin typeface="Calibri"/>
              </a:rPr>
              <a:t>•  Output: a frozen, versioned prompt artifact per agent</a:t>
            </a:r>
          </a:p>
          <a:p>
            <a:pPr algn="l"/>
            <a:r>
              <a:rPr sz="900" b="0">
                <a:solidFill>
                  <a:srgbClr val="556578"/>
                </a:solidFill>
                <a:latin typeface="Calibri"/>
              </a:rPr>
              <a:t>•  Re-compile when new hindsighted data arrives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29664" y="5040000"/>
            <a:ext cx="3369624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75BAD"/>
                </a:solidFill>
                <a:latin typeface="Calibri"/>
              </a:rPr>
              <a:t>WHY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29664" y="5300000"/>
            <a:ext cx="3369624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B3A6B"/>
                </a:solidFill>
                <a:latin typeface="Calibri"/>
              </a:rPr>
              <a:t>Measurable, repeatable prompt engineering  —  not vibes. Each agent gets its own compiled prompt.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79288" y="1900000"/>
            <a:ext cx="3689624" cy="48000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29288" y="1990000"/>
            <a:ext cx="300000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9288" y="1990000"/>
            <a:ext cx="3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A7A4A"/>
                </a:solidFill>
                <a:latin typeface="Calibri"/>
              </a:rPr>
              <a:t>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9288" y="2000000"/>
            <a:ext cx="3129624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Rationale Distillation (CoT)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79288" y="2380000"/>
            <a:ext cx="3689624" cy="292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79288" y="2380000"/>
            <a:ext cx="54864" cy="292000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59288" y="2460000"/>
            <a:ext cx="3369624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8"/>
                </a:solidFill>
                <a:latin typeface="Calibri"/>
              </a:rPr>
              <a:t>One-time offline: a strong model back-generates step-by-step reasoning traces from (features → gold recommendation). Local Ollama then learns the reasoning shape via in-context examples.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59288" y="3640000"/>
            <a:ext cx="3369624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A7A4A"/>
                </a:solidFill>
                <a:latin typeface="Calibri"/>
              </a:rPr>
              <a:t>HOW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59288" y="3900000"/>
            <a:ext cx="3369624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8"/>
                </a:solidFill>
                <a:latin typeface="Calibri"/>
              </a:rPr>
              <a:t>•  Offline rationale synthesis  →  rationale_bank.parquet</a:t>
            </a:r>
          </a:p>
          <a:p>
            <a:pPr algn="l"/>
            <a:r>
              <a:rPr sz="900" b="0">
                <a:solidFill>
                  <a:srgbClr val="556578"/>
                </a:solidFill>
                <a:latin typeface="Calibri"/>
              </a:rPr>
              <a:t>•  Retrieved alongside the analogue case in Step A</a:t>
            </a:r>
          </a:p>
          <a:p>
            <a:pPr algn="l"/>
            <a:r>
              <a:rPr sz="900" b="0">
                <a:solidFill>
                  <a:srgbClr val="556578"/>
                </a:solidFill>
                <a:latin typeface="Calibri"/>
              </a:rPr>
              <a:t>•  Constrained output schema (Pydantic) for the final answer</a:t>
            </a:r>
          </a:p>
          <a:p>
            <a:pPr algn="l"/>
            <a:r>
              <a:rPr sz="900" b="0">
                <a:solidFill>
                  <a:srgbClr val="556578"/>
                </a:solidFill>
                <a:latin typeface="Calibri"/>
              </a:rPr>
              <a:t>•  Teaches the model how to reason, not just what to say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59288" y="5040000"/>
            <a:ext cx="3369624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A7A4A"/>
                </a:solidFill>
                <a:latin typeface="Calibri"/>
              </a:rPr>
              <a:t>WHY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59288" y="5300000"/>
            <a:ext cx="3369624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B3A6B"/>
                </a:solidFill>
                <a:latin typeface="Calibri"/>
              </a:rPr>
              <a:t>Local small models punch above their weight when shown how an analyst thinks  —  bridges the capability gap.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500000"/>
            <a:ext cx="11548872" cy="46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0040" y="5570000"/>
            <a:ext cx="11068872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 + B + C ship as ONE callable layer  —  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recommendation_layer.infer(agent_type, customer)  →  reasoned Approve / Decline / Refer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03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Roadmap  —  Building the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  <a:latin typeface="Calibri"/>
              </a:rPr>
              <a:t>From asset extraction to a self-improving reasoning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9A8BB"/>
                </a:solidFill>
                <a:latin typeface="Calibri"/>
              </a:rPr>
              <a:t>A + B + C delivered in sequence  ·  Each phase measurable on the held-out 1K slice  ·  Generic across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234440"/>
            <a:ext cx="44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  <a:latin typeface="Calibri"/>
              </a:rPr>
              <a:t>Why this sequencing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00200"/>
            <a:ext cx="1828800" cy="254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774440"/>
            <a:ext cx="4400000" cy="3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Asset-first  —  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the 10K corpus is non-renewable; we extract value before drift sets in.</a:t>
            </a:r>
          </a:p>
          <a:p>
            <a:pPr algn="l"/>
            <a:r>
              <a:rPr sz="6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Generic, not agent-specific  —  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Bank Analyser, HS, Critique all consume the same layer via one call.</a:t>
            </a:r>
          </a:p>
          <a:p>
            <a:pPr algn="l"/>
            <a:r>
              <a:rPr sz="6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Local-Ollama compatible  —  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no cloud egress; RAG store + small model + structured output.</a:t>
            </a:r>
          </a:p>
          <a:p>
            <a:pPr algn="l"/>
            <a:r>
              <a:rPr sz="6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Measurable from day one  —  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decision-class accuracy + rationale similarity on a 1K held-out slice.</a:t>
            </a:r>
          </a:p>
          <a:p>
            <a:pPr algn="l"/>
            <a:r>
              <a:rPr sz="6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Compounds over time  —  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every new hindsighted batch re-indexes RAG and re-compiles the prompt.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0000" y="1234440"/>
            <a:ext cx="6988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  <a:latin typeface="Calibri"/>
              </a:rPr>
              <a:t>Strategic Roadmap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00000" y="1600200"/>
            <a:ext cx="1828800" cy="254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00000" y="1774440"/>
            <a:ext cx="6988912" cy="10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00000" y="1774440"/>
            <a:ext cx="54864" cy="108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8016" y="2076192"/>
            <a:ext cx="292608" cy="2926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8016" y="207619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2000" y="1854440"/>
            <a:ext cx="63489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Phase 1  —  Foundation (Weeks 1–3)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2000" y="2194440"/>
            <a:ext cx="6348912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8"/>
                </a:solidFill>
                <a:latin typeface="Calibri"/>
              </a:rPr>
              <a:t>Ingest 10K corpus  ·  schema-normalize features  ·  build RAG index  ·  baseline LLM (no retrieval) eval on 1K held-out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00000" y="2914440"/>
            <a:ext cx="6988912" cy="10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00000" y="2914440"/>
            <a:ext cx="54864" cy="10800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8016" y="3216192"/>
            <a:ext cx="292608" cy="292608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8016" y="321619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2000" y="2994440"/>
            <a:ext cx="63489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75BAD"/>
                </a:solidFill>
                <a:latin typeface="Calibri"/>
              </a:rPr>
              <a:t>Phase 2  —  Pillar A  ·  Dynamic Few-Shot RAG (Weeks 4–6)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2000" y="3334440"/>
            <a:ext cx="6348912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8"/>
                </a:solidFill>
                <a:latin typeface="Calibri"/>
              </a:rPr>
              <a:t>Top-k retrieval + structured-output prompt  ·  ship v1 of recommendation_layer.infer()  ·  first agent integration: Bank Analyser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00000" y="4054440"/>
            <a:ext cx="6988912" cy="10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0000" y="4054440"/>
            <a:ext cx="54864" cy="108000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8016" y="4356192"/>
            <a:ext cx="292608" cy="292608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8016" y="435619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2000" y="4134440"/>
            <a:ext cx="63489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A7A4A"/>
                </a:solidFill>
                <a:latin typeface="Calibri"/>
              </a:rPr>
              <a:t>Phase 3  —  Pillar C  ·  Rationale Distillation (Weeks 7–9)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2000" y="4474440"/>
            <a:ext cx="6348912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8"/>
                </a:solidFill>
                <a:latin typeface="Calibri"/>
              </a:rPr>
              <a:t>Offline back-generation of CoT traces  ·  rationale bank co-retrieved with analogues  ·  re-measure vs Phase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00000" y="5194440"/>
            <a:ext cx="6988912" cy="1080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00000" y="5194440"/>
            <a:ext cx="54864" cy="108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8016" y="5496192"/>
            <a:ext cx="292608" cy="2926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8016" y="549619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12000" y="5274440"/>
            <a:ext cx="63489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860B"/>
                </a:solidFill>
                <a:latin typeface="Calibri"/>
              </a:rPr>
              <a:t>Phase 4  —  Pillar B  ·  Prompt Compilation + Rollout (Weeks 10–12)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12000" y="5614440"/>
            <a:ext cx="6348912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56578"/>
                </a:solidFill>
                <a:latin typeface="Calibri"/>
              </a:rPr>
              <a:t>DSPy/MIPROv2 compile per agent (Bank · HS · Critique)  ·  versioned prompt artifacts  ·  drift monitor + re-compile trigger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6334440"/>
            <a:ext cx="11548872" cy="36000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6334440"/>
            <a:ext cx="54864" cy="36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0040" y="6394440"/>
            <a:ext cx="11148872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The 10K hindsighted corpus is one-time bootstrap capital  —  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this layer converts it into a permanent, agent-agnostic reasoning capability.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