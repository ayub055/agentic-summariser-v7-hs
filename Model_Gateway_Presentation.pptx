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4206240" cy="54864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420624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914400"/>
            <a:ext cx="4023360" cy="36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0" b="1">
                <a:solidFill>
                  <a:srgbClr val="224A85"/>
                </a:solidFill>
                <a:latin typeface="Calibri"/>
              </a:rP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0116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8A8D8"/>
                </a:solidFill>
                <a:latin typeface="Calibri"/>
              </a:rPr>
              <a:t>CONFIDENTIAL  ·  PLATFORM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97280"/>
            <a:ext cx="7132320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Kotak Model</a:t>
            </a:r>
          </a:p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Gateway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703320"/>
            <a:ext cx="2743200" cy="381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840480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6578"/>
                </a:solidFill>
                <a:latin typeface="Calibri"/>
              </a:rPr>
              <a:t>One protocol for every model — S3 self-hosted or AWS Bedrock —</a:t>
            </a:r>
          </a:p>
          <a:p>
            <a:pPr algn="l"/>
            <a:r>
              <a:rPr sz="1300" b="0">
                <a:solidFill>
                  <a:srgbClr val="556578"/>
                </a:solidFill>
                <a:latin typeface="Calibri"/>
              </a:rPr>
              <a:t>so every team builds against the same simple interface.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937760"/>
            <a:ext cx="1645920" cy="749808"/>
          </a:xfrm>
          <a:prstGeom prst="rect">
            <a:avLst/>
          </a:prstGeom>
          <a:solidFill>
            <a:srgbClr val="E8EDF7"/>
          </a:solidFill>
          <a:ln>
            <a:solidFill>
              <a:srgbClr val="CC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4937760"/>
            <a:ext cx="45720" cy="7498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992624"/>
            <a:ext cx="155448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5380000"/>
            <a:ext cx="155448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Protocol for all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4937760"/>
            <a:ext cx="1645920" cy="749808"/>
          </a:xfrm>
          <a:prstGeom prst="rect">
            <a:avLst/>
          </a:prstGeom>
          <a:solidFill>
            <a:srgbClr val="E8EDF7"/>
          </a:solidFill>
          <a:ln>
            <a:solidFill>
              <a:srgbClr val="CC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2512" y="4937760"/>
            <a:ext cx="45720" cy="7498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4992624"/>
            <a:ext cx="155448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Calibri"/>
              </a:rPr>
              <a:t>S3 + Bedrock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5380000"/>
            <a:ext cx="155448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Hosting backends supported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4" y="4937760"/>
            <a:ext cx="1645920" cy="749808"/>
          </a:xfrm>
          <a:prstGeom prst="rect">
            <a:avLst/>
          </a:prstGeom>
          <a:solidFill>
            <a:srgbClr val="E8EDF7"/>
          </a:solidFill>
          <a:ln>
            <a:solidFill>
              <a:srgbClr val="CC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4" y="4937760"/>
            <a:ext cx="45720" cy="7498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4992624"/>
            <a:ext cx="155448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Calibri"/>
              </a:rPr>
              <a:t>OpenAI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5380000"/>
            <a:ext cx="155448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Chat Completions schema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03536" y="4937760"/>
            <a:ext cx="1645920" cy="749808"/>
          </a:xfrm>
          <a:prstGeom prst="rect">
            <a:avLst/>
          </a:prstGeom>
          <a:solidFill>
            <a:srgbClr val="E8EDF7"/>
          </a:solidFill>
          <a:ln>
            <a:solidFill>
              <a:srgbClr val="CC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03536" y="4937760"/>
            <a:ext cx="45720" cy="7498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4976" y="4992624"/>
            <a:ext cx="155448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Calibri"/>
              </a:rPr>
              <a:t>Spark + AI Platforms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94976" y="5380000"/>
            <a:ext cx="155448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Internal teams onboard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9A8BB"/>
                </a:solidFill>
                <a:latin typeface="Calibri"/>
              </a:rPr>
              <a:t>Built by the AI Platforms team  ·  Standardised on the OpenAI Chat Completions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8"/>
                </a:solidFill>
                <a:latin typeface="Calibri"/>
              </a:rPr>
              <a:t>02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Why a Model Gateway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  <a:latin typeface="Calibri"/>
              </a:rPr>
              <a:t>Every model speaks a different language. The Gateway makes them all speak one — so applications stop caring where the model lives.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Adopted by: AI Platforms team  ·  Kotak Spark  ·  All Agentic Reader pipelines (Banking · Bureau · Commercial)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80000"/>
            <a:ext cx="5670000" cy="227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80000"/>
            <a:ext cx="5670000" cy="6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40" y="1410000"/>
            <a:ext cx="531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B3A6B"/>
                </a:solidFill>
                <a:latin typeface="Calibri"/>
              </a:rP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40" y="1690000"/>
            <a:ext cx="531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  <a:latin typeface="Calibri"/>
              </a:rPr>
              <a:t>Every model has its own SDK, schema, and 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040" y="2170000"/>
            <a:ext cx="5310000" cy="15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S3 self-hosted models, Bedrock-hosted models, and third-party APIs each demand their own client code, request shape, and auth headers.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Every product team rewrites the same integration glue — slower launches, more bugs, harder to swap models.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710000"/>
            <a:ext cx="5670000" cy="227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710000"/>
            <a:ext cx="5670000" cy="6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40" y="3840000"/>
            <a:ext cx="531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8860B"/>
                </a:solidFill>
                <a:latin typeface="Calibri"/>
              </a:rPr>
              <a:t>THE ABSTRACTION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040" y="4120000"/>
            <a:ext cx="531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  <a:latin typeface="Calibri"/>
              </a:rPr>
              <a:t>One protocol — OpenAI Chat Completions — for everything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040" y="4600000"/>
            <a:ext cx="5310000" cy="15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The Gateway is an abstraction layer that forces every model behind it to follow the same OpenAI-style message template.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Whether the model sits on S3, on Bedrock, or anywhere else AWS exposes — calling code sees the exact same request and response.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040" y="1280000"/>
            <a:ext cx="5670000" cy="47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040" y="1280000"/>
            <a:ext cx="5670000" cy="600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0040" y="1410000"/>
            <a:ext cx="531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75BAD"/>
                </a:solidFill>
                <a:latin typeface="Calibri"/>
              </a:rPr>
              <a:t>THE PAYOFF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040" y="1690000"/>
            <a:ext cx="531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  <a:latin typeface="Calibri"/>
              </a:rPr>
              <a:t>What it unlocks at Kotak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040" y="2170000"/>
            <a:ext cx="5310000" cy="4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Swap models without touching application code — switch a summariser from Llama to Deepseek by changing one config line.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Centralised auth, observability, rate-limiting, and cost tracking — every call goes through one door.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Security &amp; PII governance enforced at the Gateway — data abstraction, redaction policies, and compliance guardrails applied uniformly before any model sees a payload.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Teams (AI Platforms, Kotak Spark, Agentic Reader) build once and reuse — no duplicated integration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8"/>
                </a:solidFill>
                <a:latin typeface="Calibri"/>
              </a:rPr>
              <a:t>03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Architecture in Practice — Agentic Reader through the Gateway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  <a:latin typeface="Calibri"/>
              </a:rPr>
              <a:t>Every model call from the Agentic Reader — tagger, summariser, narrator — exits through the same Gateway and lands on the right backend.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Backends today: Kotak Transaction Tagger (S3)  ·  Deepseek / Llama summariser (S3 + Bedrock)  ·  Any Bedrock-available model</a:t>
            </a:r>
          </a:p>
        </p:txBody>
      </p:sp>
      <p:pic>
        <p:nvPicPr>
          <p:cNvPr id="11" name="Picture 10" descr="arch_model_gate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000"/>
            <a:ext cx="8200000" cy="414823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700040" y="1280000"/>
            <a:ext cx="3168872" cy="516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00040" y="1280000"/>
            <a:ext cx="3168872" cy="6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0040" y="1410000"/>
            <a:ext cx="2848872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8860B"/>
                </a:solidFill>
                <a:latin typeface="Calibri"/>
              </a:rPr>
              <a:t>HOW IT 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0040" y="1700000"/>
            <a:ext cx="2848872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  <a:latin typeface="Calibri"/>
              </a:rPr>
              <a:t>One door — many backends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0040" y="2280000"/>
            <a:ext cx="2848872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Orchestration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0040" y="2570000"/>
            <a:ext cx="2668872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8"/>
                </a:solidFill>
                <a:latin typeface="Calibri"/>
              </a:rPr>
              <a:t>Decides the plan and the tool calls — banking, bureau or commercial.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0040" y="3080000"/>
            <a:ext cx="2848872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Model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0040" y="3370000"/>
            <a:ext cx="2668872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8"/>
                </a:solidFill>
                <a:latin typeface="Calibri"/>
              </a:rPr>
              <a:t>Single entry point. Translates every request to OpenAI Chat Completions.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0040" y="3880000"/>
            <a:ext cx="2848872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Security &amp; PII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0040" y="4170000"/>
            <a:ext cx="2668872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8"/>
                </a:solidFill>
                <a:latin typeface="Calibri"/>
              </a:rPr>
              <a:t>Data abstraction, PII redaction, and compliance policies enforced here — no payload reaches a model un-vetted.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040" y="4680000"/>
            <a:ext cx="2848872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S3-hosted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0040" y="4970000"/>
            <a:ext cx="2668872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8"/>
                </a:solidFill>
                <a:latin typeface="Calibri"/>
              </a:rPr>
              <a:t>Kotak transaction tagger and Deepseek / Llama summariser served from Kotak's own S3.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0040" y="5480000"/>
            <a:ext cx="2848872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AWS Bedrock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0040" y="5770000"/>
            <a:ext cx="2668872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8"/>
                </a:solidFill>
                <a:latin typeface="Calibri"/>
              </a:rPr>
              <a:t>Same Gateway call routes to Bedrock — any summariser model available in AWS can be used directly.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040" y="6280000"/>
            <a:ext cx="2848872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Outputs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0040" y="6570000"/>
            <a:ext cx="2668872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8"/>
                </a:solidFill>
                <a:latin typeface="Calibri"/>
              </a:rPr>
              <a:t>PDF / HTML report, Excel report — built from the same agent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8"/>
                </a:solidFill>
                <a:latin typeface="Calibri"/>
              </a:rPr>
              <a:t>04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Architecture in Practice — Agentic Reader through the Gateway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  <a:latin typeface="Calibri"/>
              </a:rPr>
              <a:t>Every model call from the Agentic Reader — tagger, summariser, narrator — exits through the same Gateway and lands on the right backend.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Backends today: Kotak Transaction Tagger (S3)  ·  Deepseek / Llama summariser (S3 + Bedrock)  ·  Any Bedrock-available model</a:t>
            </a:r>
          </a:p>
        </p:txBody>
      </p:sp>
      <p:pic>
        <p:nvPicPr>
          <p:cNvPr id="11" name="Picture 10" descr="Drawing 2026-05-25 15.45.04.excalid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000"/>
            <a:ext cx="8200000" cy="336033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700040" y="1280000"/>
            <a:ext cx="3168872" cy="516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00040" y="1280000"/>
            <a:ext cx="3168872" cy="6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0040" y="1410000"/>
            <a:ext cx="2848872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8860B"/>
                </a:solidFill>
                <a:latin typeface="Calibri"/>
              </a:rPr>
              <a:t>HOW IT 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0040" y="1700000"/>
            <a:ext cx="2848872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  <a:latin typeface="Calibri"/>
              </a:rPr>
              <a:t>One door — many backends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0040" y="2280000"/>
            <a:ext cx="2848872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Orchestration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0040" y="2570000"/>
            <a:ext cx="2668872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8"/>
                </a:solidFill>
                <a:latin typeface="Calibri"/>
              </a:rPr>
              <a:t>Decides the plan and the tool calls — banking, bureau or commercial.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0040" y="3080000"/>
            <a:ext cx="2848872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Model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0040" y="3370000"/>
            <a:ext cx="2668872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8"/>
                </a:solidFill>
                <a:latin typeface="Calibri"/>
              </a:rPr>
              <a:t>Single entry point. Translates every request to OpenAI Chat Completions.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0040" y="3880000"/>
            <a:ext cx="2848872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Security &amp; PII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0040" y="4170000"/>
            <a:ext cx="2668872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8"/>
                </a:solidFill>
                <a:latin typeface="Calibri"/>
              </a:rPr>
              <a:t>Data abstraction, PII redaction, and compliance policies enforced here — no payload reaches a model un-vetted.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040" y="4680000"/>
            <a:ext cx="2848872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S3-hosted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0040" y="4970000"/>
            <a:ext cx="2668872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8"/>
                </a:solidFill>
                <a:latin typeface="Calibri"/>
              </a:rPr>
              <a:t>Kotak transaction tagger and Deepseek / Llama summariser served from Kotak's own S3.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0040" y="5480000"/>
            <a:ext cx="2848872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AWS Bedrock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0040" y="5770000"/>
            <a:ext cx="2668872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8"/>
                </a:solidFill>
                <a:latin typeface="Calibri"/>
              </a:rPr>
              <a:t>Same Gateway call routes to Bedrock — any summariser model available in AWS can be used directly.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040" y="6280000"/>
            <a:ext cx="2848872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Outputs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0040" y="6570000"/>
            <a:ext cx="2668872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8"/>
                </a:solidFill>
                <a:latin typeface="Calibri"/>
              </a:rPr>
              <a:t>PDF / HTML report, Excel report — built from the same agent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